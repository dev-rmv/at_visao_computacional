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lang="pt-BR" sz="1500" b="0" i="0" u="none" strike="noStrike">
                <a:solidFill>
                  <a:srgbClr val="1F2933"/>
                </a:solidFill>
                <a:latin typeface="Calibri"/>
              </a:rPr>
              <a:t>Latência média por imagem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OpenCV DNN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Latência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E8-4B59-B22F-8620214E2C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Keras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Latência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64.69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E8-4B59-B22F-8620214E2C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lang="pt-BR" sz="1500" b="0" i="0" u="none" strike="noStrike">
                <a:solidFill>
                  <a:srgbClr val="1F2933"/>
                </a:solidFill>
                <a:latin typeface="Calibri"/>
              </a:rPr>
              <a:t>Memória adicional (MB)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OpenCV DNN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Memória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5-4677-8379-840917C864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Keras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Memória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433.8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35-4677-8379-840917C864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lang="pt-BR" sz="1400" b="0" i="0" u="none" strike="noStrike">
                <a:solidFill>
                  <a:srgbClr val="1F2933"/>
                </a:solidFill>
                <a:latin typeface="Calibri"/>
              </a:rPr>
              <a:t>Tempo por etapa, frame 180 de bola.mp4 (ms)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etapas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1. Undistort (Ex1): 7,3 ms</c:v>
                </c:pt>
                <c:pt idx="1">
                  <c:v>2. HSV (TP1): 1,8 ms</c:v>
                </c:pt>
                <c:pt idx="2">
                  <c:v>3. ORB (TP2): 81,4 ms</c:v>
                </c:pt>
                <c:pt idx="3">
                  <c:v>4. HOG+SVM (TP3): 77,7 ms</c:v>
                </c:pt>
                <c:pt idx="4">
                  <c:v>5. DNN (Ex2 A): 13,6 ms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7.29</c:v>
                </c:pt>
                <c:pt idx="1">
                  <c:v>1.79</c:v>
                </c:pt>
                <c:pt idx="2">
                  <c:v>0</c:v>
                </c:pt>
                <c:pt idx="3">
                  <c:v>0</c:v>
                </c:pt>
                <c:pt idx="4">
                  <c:v>13.63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27-482A-97E6-A5EDD90587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ORB + HOG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1. Undistort (Ex1): 7,3 ms</c:v>
                </c:pt>
                <c:pt idx="1">
                  <c:v>2. HSV (TP1): 1,8 ms</c:v>
                </c:pt>
                <c:pt idx="2">
                  <c:v>3. ORB (TP2): 81,4 ms</c:v>
                </c:pt>
                <c:pt idx="3">
                  <c:v>4. HOG+SVM (TP3): 77,7 ms</c:v>
                </c:pt>
                <c:pt idx="4">
                  <c:v>5. DNN (Ex2 A): 13,6 ms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81.430000000000007</c:v>
                </c:pt>
                <c:pt idx="3">
                  <c:v>77.709999999999994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27-482A-97E6-A5EDD90587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68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 Rodrigo Vianna e vou apresentar o AT de Visão Computacional. Em quatro exercícios montei um pipeline de percepção para robótica: calibrar a câmera, classificar com rede neural, detectar e rastrear objetos e segmentar a cena. Todos os números que vou mostrar foram medidos na minha máquina, em CPU, com modelos pré-treinados. (1 min com o próximo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fio condutor é um único pipeline de percepção: cada exercício entrega uma peça para o seguinte. A calibração do Ex1 (calibracao.npz) é usada no undistort do Ex2, e o relatório do Ex4 junta as métricas de todos os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calibração, toda medida que o robô tira da imagem sai errada: 1 % de erro na distância focal vira 1 % de erro na profundidade. Calibrei com 20 imagens de tabuleiro 9×6 geradas por uma câmera virtual de parâmetros conhecidos, o que me deixa comparar com a verdade.
Verdade × calibrado: fx 1000,00 × 1000,38; fy 1010,00 × 1010,49; cx, cy 652,00; 351,00 × 652,01; 351,27; k1 −0,300 × −0,302.
Abaixo de 0,5 px é excelente para robótica; até 1 px é aceitável; acima disso a odometria acumula deriva. A classificação impressa no terminal é calculada a partir do erro, não fixa.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solvePnP estima a pose a cada frame e projectPoints desenha um cubo de 1 quadrado (25 mm), com uma cor por face. Resultado: pose em 150 de 150 frames, 56,8 FPS e jitter médio de 0,20 px/frame², por isso o cubo não treme. rvec e tvec são impressos no terminal a cada frame.
Transição: essa calibração vira o primeiro passo do pipeline do Ex2.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Carreguei a mesma MobileNetV2 pré-treinada no ImageNet em dois backends: o módulo DNN do OpenCV, lendo o arquivo TFLite, e o Keras. Rodei 10 imagens de 10 categorias, com 20 repetições cada depois do aquecimento.
Mesma rede, mesma acurácia e as mesmas 10 previsões, mas o DNN é 11 vezes mais rápido, 16 vezes mais previsível e usa 8 vezes menos memória. Em embarcado a regra é: treinar no Keras, exportar para TFLite ou ONNX e inferir no OpenCV DNN.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do top-3 sobreposto às imagens. O único erro, church classificada como fountain, aparece nos dois backends: a conversão para TFLite não mudou o comportamento da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encadeei as técnicas dos TPs num notebook único, sobre o frame 180 de bola.mp4: undistort (Ex1), segmentação HSV (TP1), ORB (TP2), HOG+SVM (TP3) e classificação da ROI com o DNN do item A.
ORB e HOG somam 87 % do tempo; são eles que eu otimizaria primeiro, não a rede neural.
Antecipar as três ressalvas: o HOG deu 0 pedestres porque o vídeo não tem pessoas; a rede disse croquet_ball com 20 % porque o ImageNet não tem 'bola azul'; o undistort usa a calibração da câmera virtual do Ex1, que não é a câmera do vídeo (o enunciado pede o encadeamento; limitação documentada).
Transição: classificar uma ROI não basta; o robô precisa achar e seguir vários objetos. Isso é o Ex3.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Comparei os dois detectores pedidos, ambos pelo OpenCV DNN, nos 795 frames de vtest.avi, uma cena de rua com pedestres. NMS com limiar 0,4 nos dois.
O SSD é 1,3 vez mais rápido, mas os dois passam com folga dos 15 FPS. Passado esse limiar, o que pesa no embarcado é memória: o YOLOv4-tiny é 2,9 vezes menor em disco e tem 2,8 vezes menos parâmetros. O código chega a essa conclusão a partir dos números medidos, não de um texto fixo.
Se perguntarem: o YOLO achou mais caixas (5659 contra 4942), mas sem gabarito não dá para dizer que é mais preciso; o mAP não foi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Liguei o YOLO a um rastreador por IoU entre frames consecutivos, com previsão linear de posição. Cada pessoa ganha um ID persistente e uma trilha colorida dos últimos 30 frames.
53 entradas e 44 saídas acumuladas; 6 ID switches em 79,5 s de vídeo, ou 4,5 por minuto; o rastreador custa menos de 0,1 ms por frame.
Dizer com todas as letras: a taxa de ID switches é uma estimativa heurística. Não há gabarito anotado para vtest.avi, e a heurística não enxerga troca de ID entre duas pessoas que se cruzam.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Ética em 30 segundos: processar a bordo e guardar só contagens agregadas; sem reconhecimento facial; risco de vigilância em massa e de inibir manifestações, por isso finalidade definida, proporcionalidade e conformidade com a LGPD; contagem com erro não pode fechar acesso sozinha, então supervisão humana e aviso público da operação.
Transição: caixas dizem onde está cada objeto. Para dirigir, o veículo precisa saber o que é cada pixel, e é isso que o Ex4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Usei o DeepLabV3 com MobileNetV2, pré-treinado no ADE20K, em 6 cenas externas. A sexta é um frame do vtest.avi, para ter rua, calçada e pedestres na mesma imagem. Cena de rua: grass 50,7 %, road 23,2 %, building 11,3 %, sidewalk 4,4 %, person 3,7 %.
No painel do HSV, asfalto e prédio saem no mesmo cinza. O DeepLab separa pista de calçada, que é justamente o que diz ao carro por onde ele pode andar. Essa semântica custa cerca de 25 vezes mais tempo.
Limitação para admitir: perto dos pedestres a máscara de calçada invade a pista, e o mIoU não foi medido porque não há gabarito anotado.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relatório integrativo junta tudo com os números medidos nos quatro exercícios. Tem as 5 seções obrigatórias, que o próprio código valida, e 975 palavras de texto corrido, contra 800 exigidas.
Seção 3, 5 W: com a hipótese de uma placa 8 vezes mais lenta, undistort, HSV, rastreador e classificador cabem. YOLO e SSD ficam no limite (5 a 7 FPS) e pedem quantização INT8. HOG, ORB com 2000 pontos e DeepLab a cada frame ficam inviáveis.
Se perguntarem do fator 8: é hipótese de planejamento; placas ARM de 5 W rendem de 6 a 10 vezes menos por núcleo que o desktop. O relatório diz que é preciso medir na placa.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4 do relatório: 6 técnicas em taxas diferentes. Retificação, HSV, ORB e rastreador a 30 Hz na CPU; detector a 10 Hz e segmentação a 2 Hz na NPU, porque pista e calçada mudam devagar.
Seção 5, lacunas para a DR4: profundidade com câmera monocular (LiDAR ou estéreo); chuva, noite e contraluz (radar e câmera térmica); oclusão e ID switch sem gabarito (DeepSORT ou ByteTrack com filtro de Kalman).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as limitações antes do professor mostra domínio, não fraqueza. Cada uma está documentada no código, no relatório ou no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falta para este protótipo virar percepção veicular não se resolve com mais processamento. Falta profundidade, robustez a clima e rastreamento sob oclusão, que são as três lacunas que levo para a DR4. Obrigado, fico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25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· VISÃO COMPUTACIONAL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percepção visual para robótica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Calibração, classificação, detecção, rastreamento e segmentação, com métricas medidas em CPU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Vianna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400" dirty="0"/>
          </a:p>
        </p:txBody>
      </p:sp>
      <p:pic>
        <p:nvPicPr>
          <p:cNvPr id="7" name="Image 0" descr="C:/AT_visao_computacional_v2/ex3/saidas/item_b_rastreamento_frame_0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25880"/>
            <a:ext cx="4846320" cy="36347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93408" y="12527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693408" y="12527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1411712" y="12527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11686032" y="12527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693408" y="503377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693408" y="475945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11411712" y="503377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11686032" y="475945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76656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Ex3: YOLOv4-tiny com rastreamento por IoU em vtest.avi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exercícios, um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58368" y="19476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5856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e realidade aumentada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004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0,048 px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319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de reprojeção (limiar: 0,5 px)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23744" y="3383280"/>
            <a:ext cx="19431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772918" y="16916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974086" y="19476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4086" y="225856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DNN × Keras e pipeline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74086" y="32004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11,5×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2974086" y="39319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latência no DNN, com a mesma acurácia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39462" y="3383280"/>
            <a:ext cx="19431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088636" y="16916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289804" y="19476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289804" y="225856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× SSD e rastreamento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89804" y="32004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FPS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5289804" y="39319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YOLOv4-tiny em CPU, com IDs persistentes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55180" y="3383280"/>
            <a:ext cx="19431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404354" y="16916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605522" y="19476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EX4 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05522" y="225856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semântica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05522" y="32004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ms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7605522" y="39319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 por imagem; separa pista e calçada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70898" y="3383280"/>
            <a:ext cx="19431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9720072" y="16916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9921240" y="19476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EX4 B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258568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integrativo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32004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5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3931920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obrigatórias, com 975 palavras de texto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calibração do Ex1 é reaproveitada no undistort do Ex2, e o relatório do Ex4 reúne as métricas medidas em todos os exercícios.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 · ITEM A · CALIBRAÇÃO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Calibração: 0,048 px, dez vezes abaixo do limiar</a:t>
            </a:r>
            <a:endParaRPr lang="en-US" sz="3000" dirty="0"/>
          </a:p>
        </p:txBody>
      </p:sp>
      <p:pic>
        <p:nvPicPr>
          <p:cNvPr id="4" name="Image 0" descr="C:/AT_visao_computacional_v2/ex1/saidas/painel_undist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11274552" cy="31711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43560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4048" y="143560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1530584" y="143560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1804904" y="143560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84048" y="4753051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84048" y="4478731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11530584" y="4753051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11804904" y="4478731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457200" y="5029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0,048 px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5715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de reprojeção (RMS 0,049 px)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315968" y="5029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0,05 %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4315968" y="5715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fx e fy contra a câmera virtual de referência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165592" y="5029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imagens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8165592" y="5715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 9×6 sintético, com parâmetros conhecidos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 · ITEM B · REALIDADE AUMENTADA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 3D estável: pose em 150 de 150 frames</a:t>
            </a:r>
            <a:endParaRPr lang="en-US" sz="3000" dirty="0"/>
          </a:p>
        </p:txBody>
      </p:sp>
      <p:pic>
        <p:nvPicPr>
          <p:cNvPr id="4" name="Image 0" descr="C:/AT_visao_computacional_v2/ex1/saidas/frame_cubo_me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949440" cy="3909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4048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205472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479792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84048" y="553669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84048" y="526237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205472" y="553669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479792" y="526237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8001000" y="1554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150/150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com pose estimada por solvePnP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2880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56,8 FPS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aumentada em tempo real na CPU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42062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 px/frame²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médio dos vértices projetados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solvePnP estima rotação e translação a cada frame; projectPoints desenha um cubo de 1 quadrado (25 mm), com uma cor por face.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EX2 · ITEM A · OPENCV DNN × KERAS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rede, mesma acurácia, 11× mais rápida no DNN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37490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434840" y="1554480"/>
          <a:ext cx="37490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8412480" y="1554480"/>
            <a:ext cx="3319272" cy="3977640"/>
          </a:xfrm>
          <a:prstGeom prst="roundRect">
            <a:avLst>
              <a:gd name="adj" fmla="val 220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8686800" y="1783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= 90 %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top-1 nos dois backends; as 10 previsões coincidem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868680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variação de latência no DNN (desvio de 0,30 contra 4,95 ms)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(ImageNet) em 10 imagens, 20 repetições cada após aquecimento; memória medida com psutil depois do aquecimento.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EX2 · ITEM A · TOP-3 SOBRE A IMAGEM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10 corretas; o único erro é igual nos dois backends</a:t>
            </a:r>
            <a:endParaRPr lang="en-US" sz="3000" dirty="0"/>
          </a:p>
        </p:txBody>
      </p:sp>
      <p:pic>
        <p:nvPicPr>
          <p:cNvPr id="4" name="Image 0" descr="C:/AT_visao_computacional_v2/ex2/saidas/top3/top3_n03888257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773615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57276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4048" y="157276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029647" y="157276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303967" y="157276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84048" y="455371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84048" y="427939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029647" y="455371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303967" y="427939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457200" y="4709160"/>
            <a:ext cx="377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 · 98,2 %</a:t>
            </a:r>
            <a:endParaRPr lang="en-US" sz="1600" dirty="0"/>
          </a:p>
        </p:txBody>
      </p:sp>
      <p:pic>
        <p:nvPicPr>
          <p:cNvPr id="14" name="Image 1" descr="C:/AT_visao_computacional_v2/ex2/saidas/top3/top3_n03417042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010" y="1645920"/>
            <a:ext cx="3773615" cy="2834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81858" y="157276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4581858" y="157276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8227457" y="157276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501777" y="157276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4581858" y="455371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4581858" y="427939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8227457" y="455371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8501777" y="427939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 txBox="1"/>
          <p:nvPr/>
        </p:nvSpPr>
        <p:spPr>
          <a:xfrm>
            <a:off x="4655010" y="4709160"/>
            <a:ext cx="377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garbage_truck · 92,8 %</a:t>
            </a:r>
            <a:endParaRPr lang="en-US" sz="1600" dirty="0"/>
          </a:p>
        </p:txBody>
      </p:sp>
      <p:pic>
        <p:nvPicPr>
          <p:cNvPr id="24" name="Image 2" descr="C:/AT_visao_computacional_v2/ex2/saidas/top3/top3_n03028079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821" y="1645920"/>
            <a:ext cx="2878931" cy="2834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779669" y="1572768"/>
            <a:ext cx="274320" cy="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8779669" y="1572768"/>
            <a:ext cx="0" cy="27432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2"/>
          <p:cNvSpPr/>
          <p:nvPr/>
        </p:nvSpPr>
        <p:spPr>
          <a:xfrm>
            <a:off x="11530584" y="1572768"/>
            <a:ext cx="274320" cy="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3"/>
          <p:cNvSpPr/>
          <p:nvPr/>
        </p:nvSpPr>
        <p:spPr>
          <a:xfrm>
            <a:off x="11804904" y="1572768"/>
            <a:ext cx="0" cy="27432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4"/>
          <p:cNvSpPr/>
          <p:nvPr/>
        </p:nvSpPr>
        <p:spPr>
          <a:xfrm>
            <a:off x="8779669" y="4553712"/>
            <a:ext cx="274320" cy="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5"/>
          <p:cNvSpPr/>
          <p:nvPr/>
        </p:nvSpPr>
        <p:spPr>
          <a:xfrm>
            <a:off x="8779669" y="4279392"/>
            <a:ext cx="0" cy="27432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6"/>
          <p:cNvSpPr/>
          <p:nvPr/>
        </p:nvSpPr>
        <p:spPr>
          <a:xfrm>
            <a:off x="11530584" y="4553712"/>
            <a:ext cx="274320" cy="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7"/>
          <p:cNvSpPr/>
          <p:nvPr/>
        </p:nvSpPr>
        <p:spPr>
          <a:xfrm>
            <a:off x="11804904" y="4279392"/>
            <a:ext cx="0" cy="274320"/>
          </a:xfrm>
          <a:prstGeom prst="line">
            <a:avLst/>
          </a:prstGeom>
          <a:noFill/>
          <a:ln w="3175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8"/>
          <p:cNvSpPr txBox="1"/>
          <p:nvPr/>
        </p:nvSpPr>
        <p:spPr>
          <a:xfrm>
            <a:off x="8852821" y="4709160"/>
            <a:ext cx="28789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→ fountain · 52,8 % (erro)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medida contra rotulos.csv com o mesmo critério nos dois backends. O erro church → fountain acontece no DNN e no Keras.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EX2 · ITEM B · PIPELINE INTEGRADO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ms por frame, 87 % gastos em ORB e HOG</a:t>
            </a:r>
            <a:endParaRPr lang="en-US" sz="3000" dirty="0"/>
          </a:p>
        </p:txBody>
      </p:sp>
      <p:pic>
        <p:nvPicPr>
          <p:cNvPr id="4" name="Image 0" descr="C:/AT_visao_computacional_v2/ex2/saidas/frame_pipeline_integr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689397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4048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945429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219749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84048" y="482803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84048" y="455371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945429" y="482803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219749" y="455371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13" name="Chart 0"/>
          <p:cNvGraphicFramePr/>
          <p:nvPr/>
        </p:nvGraphicFramePr>
        <p:xfrm>
          <a:off x="6629400" y="1463040"/>
          <a:ext cx="5102352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usa a execução de referência do relatorio_ex2.md (181,85 ms, 5,5 FPS); o HUD da imagem vem de outra execução e difere em poucos ms.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5532120"/>
            <a:ext cx="3630168" cy="640080"/>
          </a:xfrm>
          <a:prstGeom prst="roundRect">
            <a:avLst>
              <a:gd name="adj" fmla="val 1142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 txBox="1"/>
          <p:nvPr/>
        </p:nvSpPr>
        <p:spPr>
          <a:xfrm>
            <a:off x="621792" y="553212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HOG: 0 pedestres, porque o vídeo não tem pessoas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279392" y="5532120"/>
            <a:ext cx="3630168" cy="640080"/>
          </a:xfrm>
          <a:prstGeom prst="roundRect">
            <a:avLst>
              <a:gd name="adj" fmla="val 1142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4443984" y="553212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não tem a classe "bola azul"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01584" y="5532120"/>
            <a:ext cx="3630168" cy="640080"/>
          </a:xfrm>
          <a:prstGeom prst="roundRect">
            <a:avLst>
              <a:gd name="adj" fmla="val 1142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 txBox="1"/>
          <p:nvPr/>
        </p:nvSpPr>
        <p:spPr>
          <a:xfrm>
            <a:off x="8266176" y="553212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Undistort usa a calibração da câmera virtual do Ex1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EX3 · ITEM A · YOLO × SSD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passam de 15 FPS; o YOLOv4-tiny é 2,9× menor</a:t>
            </a:r>
            <a:endParaRPr lang="en-US" sz="3000" dirty="0"/>
          </a:p>
        </p:txBody>
      </p:sp>
      <p:pic>
        <p:nvPicPr>
          <p:cNvPr id="4" name="Image 0" descr="C:/AT_visao_computacional_v2/ex3/saidas/item_a_yolo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36576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4048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913632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87952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84048" y="437083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84048" y="409651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913632" y="437083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187952" y="409651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C:/AT_visao_computacional_v2/ex3/saidas/item_a_ssd_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54480"/>
            <a:ext cx="3657600" cy="274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15968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4315968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7845552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8119872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4315968" y="437083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4315968" y="409651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7845552" y="437083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8119872" y="409651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63440"/>
          <a:ext cx="7589520" cy="115214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Parâmetros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 (MB)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YOLOv4-tiny (416 px)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MobileNetV2 (300 px)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59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8412480" y="1554480"/>
            <a:ext cx="3319272" cy="4407408"/>
          </a:xfrm>
          <a:prstGeom prst="roundRect">
            <a:avLst>
              <a:gd name="adj" fmla="val 220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19"/>
          <p:cNvSpPr txBox="1"/>
          <p:nvPr/>
        </p:nvSpPr>
        <p:spPr>
          <a:xfrm>
            <a:off x="86410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PARA EMBARCADO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2103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YOLOv4-tiny</a:t>
            </a:r>
            <a:endParaRPr lang="en-US" sz="2800" dirty="0"/>
          </a:p>
        </p:txBody>
      </p:sp>
      <p:sp>
        <p:nvSpPr>
          <p:cNvPr id="26" name="Text 21"/>
          <p:cNvSpPr txBox="1"/>
          <p:nvPr/>
        </p:nvSpPr>
        <p:spPr>
          <a:xfrm>
            <a:off x="8641080" y="27889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15 FPS, a memória vira o gargalo: 2,9× menos disco e 2,8× menos parâmetros.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641080" y="39319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latência mandar, o SSD é 1,3× mais rápido.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641080" y="5074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795 frames de vtest.avi · NMS 0,4 · OpenCV DNN em CPU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EX3 · ITEM B · RASTREAMENTO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persistentes a menos de 0,1 ms por frame</a:t>
            </a:r>
            <a:endParaRPr lang="en-US" sz="3000" dirty="0"/>
          </a:p>
        </p:txBody>
      </p:sp>
      <p:pic>
        <p:nvPicPr>
          <p:cNvPr id="4" name="Image 0" descr="C:/AT_visao_computacional_v2/ex3/saidas/item_b_rastreamento_frame_0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760720" cy="43205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84048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016752" y="148132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6291072" y="148132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84048" y="594817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84048" y="567385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16752" y="594817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291072" y="567385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675120" y="15544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6876288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876288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acumuladas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262872" y="15544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9464040" y="1783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acumuladas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75120" y="33832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6876288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A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4,5/min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6876288" y="4297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switches (estimativa heurística)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262872" y="338328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946404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0,1 ms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9464040" y="4297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rastreador por frame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530352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ID switches não tem gabarito e não capta trocas entre pessoas que se cruzam, então tende a subestimar o valor real.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EX3 · ITEM B · DRONE DE VIGILÂNCIA URBANA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pessoas sem identificar ninguém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86984" cy="1920240"/>
          </a:xfrm>
          <a:prstGeom prst="roundRect">
            <a:avLst>
              <a:gd name="adj" fmla="val 381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" cy="7772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067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202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a bordo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774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contagens agregadas saem do drone; o vídeo bruto não é transmitido nem gravado, e os frames são descartados.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44768" y="1600200"/>
            <a:ext cx="5586984" cy="1920240"/>
          </a:xfrm>
          <a:prstGeom prst="roundRect">
            <a:avLst>
              <a:gd name="adj" fmla="val 381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19088" y="1920240"/>
            <a:ext cx="777240" cy="7772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26" y="21067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24928" y="19202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reconhecimento facial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24928" y="23774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trabalha com caixas de silhuetas, nunca com identidades.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5586984" cy="1920240"/>
          </a:xfrm>
          <a:prstGeom prst="roundRect">
            <a:avLst>
              <a:gd name="adj" fmla="val 381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31520" y="4069080"/>
            <a:ext cx="777240" cy="7772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42556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0690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 e LGPD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52628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restrito a finalidade legítima e proporcional, para evitar vigilância em massa e a inibição de manifestações.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44768" y="3749040"/>
            <a:ext cx="5586984" cy="1920240"/>
          </a:xfrm>
          <a:prstGeom prst="roundRect">
            <a:avLst>
              <a:gd name="adj" fmla="val 381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19088" y="4069080"/>
            <a:ext cx="777240" cy="7772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626" y="42556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24928" y="40690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 humana e transparência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424928" y="452628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contagem com erro não decide sozinha; a operação é sinalizada e anunciada ao público.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EX4 · ITEM A · SEGMENTAÇÃO SEMÂNTICA × HSV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 separa pista de calçada; o HSV não</a:t>
            </a:r>
            <a:endParaRPr lang="en-US" sz="3000" dirty="0"/>
          </a:p>
        </p:txBody>
      </p:sp>
      <p:pic>
        <p:nvPicPr>
          <p:cNvPr id="4" name="Image 0" descr="C:/AT_visao_computacional_v2/ex4/saidas/painel_comparativo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463040"/>
            <a:ext cx="10643616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9516" y="138988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99516" y="138988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1215116" y="1389888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1489436" y="1389888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99516" y="519379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99516" y="491947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11215116" y="5193792"/>
            <a:ext cx="274320" cy="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11489436" y="4919472"/>
            <a:ext cx="0" cy="274320"/>
          </a:xfrm>
          <a:prstGeom prst="line">
            <a:avLst/>
          </a:prstGeom>
          <a:noFill/>
          <a:ln w="317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772668" y="5394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ms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" y="5925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 por imagem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384548" y="5394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384548" y="5925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HSV por imagem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996428" y="5394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~25×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7996428" y="5925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da semântica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EX4 · ITEM B · HARDWARE DE 5 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5 W cabem as técnicas leves; detectores pedem INT8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75304" cy="4069080"/>
          </a:xfrm>
          <a:prstGeom prst="roundRect">
            <a:avLst>
              <a:gd name="adj" fmla="val 204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0B8A7A"/>
          </a:solidFill>
          <a:ln w="12700">
            <a:solidFill>
              <a:srgbClr val="0B8A7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VIÁVEL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783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projetado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IoU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423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90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HSV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9900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570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Classificador DNN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557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1239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4123944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B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70916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a 30 Hz; o classificador só nos recortes detectados.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06824" y="1554480"/>
            <a:ext cx="3575304" cy="4069080"/>
          </a:xfrm>
          <a:prstGeom prst="roundRect">
            <a:avLst>
              <a:gd name="adj" fmla="val 204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35424" y="1783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A86A00"/>
          </a:solidFill>
          <a:ln w="12700">
            <a:solidFill>
              <a:srgbClr val="A86A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535424" y="1783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LIMÍTROFE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27064" y="1783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projetado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35424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MobileNetV2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2423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~6,8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2990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YOLOv4-tiny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01384" y="29900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35424" y="470916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Quantizar em INT8 e reduzir a entrada para 320 px.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56448" y="1554480"/>
            <a:ext cx="3575304" cy="4069080"/>
          </a:xfrm>
          <a:prstGeom prst="roundRect">
            <a:avLst>
              <a:gd name="adj" fmla="val 204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8385048" y="178308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8385048" y="1783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INVIÁVEL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76688" y="178308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projetado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385048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351008" y="2423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~1,7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385048" y="29900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HOG+SVM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351008" y="299008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385048" y="35570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ORB, 2000 pontos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351008" y="3557016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385048" y="470916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a 1–2 Hz, trocar o HOG por SSD/YOLO e usar ORB com 300 a 500 pontos.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Projeção: latência medida no desktop × 8, hipótese conservadora para uma placa ARM de 5 W. Precisa ser confirmada na placa.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EX4 · ITEM B · ARQUITETURA PROPOSTA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técnicas da disciplina em três taxas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306324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30352" y="306324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frontal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· 30 FPS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1600200"/>
            <a:ext cx="960120" cy="1097280"/>
          </a:xfrm>
          <a:prstGeom prst="roundRect">
            <a:avLst>
              <a:gd name="adj" fmla="val 761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2496312" y="1600200"/>
            <a:ext cx="813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600200"/>
            <a:ext cx="1062990" cy="1097280"/>
          </a:xfrm>
          <a:prstGeom prst="roundRect">
            <a:avLst>
              <a:gd name="adj" fmla="val 688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611880" y="1600200"/>
            <a:ext cx="971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Retificação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66310" y="1600200"/>
            <a:ext cx="1062990" cy="1097280"/>
          </a:xfrm>
          <a:prstGeom prst="roundRect">
            <a:avLst>
              <a:gd name="adj" fmla="val 688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812030" y="1600200"/>
            <a:ext cx="971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HSV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66460" y="1600200"/>
            <a:ext cx="1062990" cy="1097280"/>
          </a:xfrm>
          <a:prstGeom prst="roundRect">
            <a:avLst>
              <a:gd name="adj" fmla="val 688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012180" y="1600200"/>
            <a:ext cx="971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66610" y="1600200"/>
            <a:ext cx="1062990" cy="1097280"/>
          </a:xfrm>
          <a:prstGeom prst="roundRect">
            <a:avLst>
              <a:gd name="adj" fmla="val 6882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212330" y="1600200"/>
            <a:ext cx="9715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IoU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Ex3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2011680" y="2148840"/>
            <a:ext cx="411480" cy="141732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229600" y="2148840"/>
            <a:ext cx="3657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423160" y="3017520"/>
            <a:ext cx="960120" cy="1097280"/>
          </a:xfrm>
          <a:prstGeom prst="roundRect">
            <a:avLst>
              <a:gd name="adj" fmla="val 761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2496312" y="3017520"/>
            <a:ext cx="813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66160" y="30175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361188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SSD / YOLO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Ex3 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11680" y="3566160"/>
            <a:ext cx="41148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229600" y="3566160"/>
            <a:ext cx="3657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423160" y="4434840"/>
            <a:ext cx="960120" cy="1097280"/>
          </a:xfrm>
          <a:prstGeom prst="roundRect">
            <a:avLst>
              <a:gd name="adj" fmla="val 761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2496312" y="4434840"/>
            <a:ext cx="813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Hz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443484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3611880" y="4434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DeepLabV3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Ex4 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011680" y="3566160"/>
            <a:ext cx="411480" cy="141732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229600" y="4983480"/>
            <a:ext cx="3657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595360" y="160020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15191E"/>
          </a:solidFill>
          <a:ln w="12700">
            <a:solidFill>
              <a:srgbClr val="1519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8668512" y="1600200"/>
            <a:ext cx="12710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 e grade de ocupação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332720" y="1600200"/>
            <a:ext cx="1399032" cy="1737360"/>
          </a:xfrm>
          <a:prstGeom prst="roundRect">
            <a:avLst>
              <a:gd name="adj" fmla="val 522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10405872" y="1600200"/>
            <a:ext cx="1252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Planejador local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332720" y="3794760"/>
            <a:ext cx="1399032" cy="1737360"/>
          </a:xfrm>
          <a:prstGeom prst="roundRect">
            <a:avLst>
              <a:gd name="adj" fmla="val 522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10405872" y="3794760"/>
            <a:ext cx="1252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Controle: acelerar, frear, esterçar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012680" y="2468880"/>
            <a:ext cx="32004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11032236" y="3337560"/>
            <a:ext cx="0" cy="45720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rastreador preenche os frames entre duas detecções; a segmentação roda a 2 Hz porque pista e calçada mudam devagar.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DECLARADAS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foi medido, dito antes da pergunta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1708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gabarito anotado: mAP dos detectores, mIoU do segmentador e ID switches reais não foram medidos.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2487168"/>
            <a:ext cx="640080" cy="64008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" y="2640787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4871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undistort do Ex2 usa a calibração da câmera virtual do Ex1, não a da câmera de bola.mp4.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57200" y="3419856"/>
            <a:ext cx="640080" cy="64008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" y="3573475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4198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imagens de calibração do Ex1 são sintéticas, e o script que as gerou não está no repositório.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457200" y="4352544"/>
            <a:ext cx="640080" cy="64008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" y="4506163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352544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foi medido num Core i9-14900KF; os números para 5 W são projeção com fator 8×, não medição.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457200" y="5285232"/>
            <a:ext cx="640080" cy="640080"/>
          </a:xfrm>
          <a:prstGeom prst="ellipse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" y="5438851"/>
            <a:ext cx="332842" cy="3328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5285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foi testado à noite, com chuva ou contraluz.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9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NÚMEROS MOSTRAM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188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clássicas custam poucos ms e não têm semântica; redes custam de 5 a 73 ms e trazem a semântica.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embarcado, o backend pesa tanto quanto o modelo: 11× entre OpenCV DNN e Keras.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566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veículo real combina as duas famílias em taxas diferentes.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640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LACUNAS PARA A DR4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143000"/>
            <a:ext cx="5148072" cy="1005840"/>
          </a:xfrm>
          <a:prstGeom prst="roundRect">
            <a:avLst>
              <a:gd name="adj" fmla="val 7273"/>
            </a:avLst>
          </a:prstGeom>
          <a:solidFill>
            <a:srgbClr val="242A31"/>
          </a:solidFill>
          <a:ln w="12700">
            <a:solidFill>
              <a:srgbClr val="242A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812280" y="1307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com câmera monocular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673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LiDAR ou câmera estéreo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2331720"/>
            <a:ext cx="5148072" cy="1005840"/>
          </a:xfrm>
          <a:prstGeom prst="roundRect">
            <a:avLst>
              <a:gd name="adj" fmla="val 7273"/>
            </a:avLst>
          </a:prstGeom>
          <a:solidFill>
            <a:srgbClr val="242A31"/>
          </a:solidFill>
          <a:ln w="12700">
            <a:solidFill>
              <a:srgbClr val="242A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812280" y="2496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Chuva, noite e contraluz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862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radar e câmera térmica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520440"/>
            <a:ext cx="5148072" cy="1005840"/>
          </a:xfrm>
          <a:prstGeom prst="roundRect">
            <a:avLst>
              <a:gd name="adj" fmla="val 7273"/>
            </a:avLst>
          </a:prstGeom>
          <a:solidFill>
            <a:srgbClr val="242A31"/>
          </a:solidFill>
          <a:ln w="12700">
            <a:solidFill>
              <a:srgbClr val="242A3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812280" y="3685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Oclusão e ID switch sem gabarito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4050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DeepSORT ou ByteTrack com filtro de Kalman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 Perguntas?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2625</Words>
  <Application>Microsoft Office PowerPoint</Application>
  <PresentationFormat>Widescreen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percepção visual para robótica</dc:title>
  <dc:subject>PptxGenJS Presentation</dc:subject>
  <dc:creator>Rodrigo Vianna</dc:creator>
  <cp:lastModifiedBy>Rodrigo Vianna</cp:lastModifiedBy>
  <cp:revision>1</cp:revision>
  <dcterms:created xsi:type="dcterms:W3CDTF">2026-09-25T07:58:04Z</dcterms:created>
  <dcterms:modified xsi:type="dcterms:W3CDTF">2026-09-25T08:10:21Z</dcterms:modified>
</cp:coreProperties>
</file>